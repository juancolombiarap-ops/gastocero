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Reporte de competencia del 10 al 15 de octubre de 2026. VERSIÓN INTERNA. Cuatro operadores: V. Falabella, Despegar, Cocha y Expedia. Precios en USD, total de la estadía para dos adultos, habitación Standard. Las cifras del 3 al 8 de octubre que aparecen en notas son solo referenciales.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base de comparación es la misma para todos los operadores: dos adultos, cinco noches, habitación Standard y tarifa más económica de esa categoría. NA significa que se cotizó y no había cupo; N/D que ese canal no se consultó para ese hotel.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Empieza la sección de alojamiento: solo hotel, sin aéreo, para los seis destinos del informe.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Alojamiento en SAN ANDRÉS. Hoteles propios: DECAMERON ISLEÑO $1,467; DECAMERON SAN LUIS $852 ▼; DECAMERON MARAZUL $951; DECAMERON MARYLAND $1,114; DECAMERON LOS DELFINES $1,196.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Alojamiento en CARTAGENA. Hoteles propios: DECAMERON CARTAGENA 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Alojamiento en PUNTA SAL. Hoteles propios: ROYAL DECAMERON PUNTA SAL 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Alojamiento en PANAMÁ. Hoteles propios: GRAND DECAMERON PANAMÁ $963.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Alojamiento en SANTA MARTA. Hoteles propios: DECAMERON GALEÓN $1,461 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Alojamiento en MÉXICO. Hoteles propios: GRAND DECAMERON COMPLEX $1,163 ▼; GRAND DECAMERON LOS CABOS $1,479 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Benchmark del Isleño contra la competencia internacional en Punta Cana, Cancún y Curazao. La última columna dice cuánto más caro o más barato está el Isleño respecto de cada competidor.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Sección de paquetería: el paquete que arma cada operador, hotel más aéreo. Es otro producto, no la suma de las partes.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Paquetería en SAN ANDRÉS. Hoteles propios: DECAMERON ISLEÑO $2,074; DECAMERON SAN LUIS $1,697 ▼; DECAMERON MARAZUL $1,737; DECAMERON MARYLAND $1,894; DECAMERON LOS DELFINES $1,886.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Paquetería en CARTAGENA. Hoteles propios: DECAMERON CARTAGENA 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Paquetería en PUNTA SAL. Hoteles propios: ROYAL DECAMERON PUNTA SAL 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Paquetería en PANAMÁ. Hoteles propios: GRAND DECAMERON PANAMÁ $2,273.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Paquetería en SANTA MARTA. Hoteles propios: DECAMERON GALEÓN $3,357 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Paquetería en MÉXICO. Hoteles propios: GRAND DECAMERON COMPLEX $3,097 ▼; GRAND DECAMERON LOS CABOS $3,108 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Benchmark del Isleño contra la competencia internacional en Punta Cana, Cancún y Curazao. La última columna dice cuánto más caro o más barato está el Isleño respecto de cada competidor.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Tarifas aéreas por persona, ida y vuelta. Ojo: son tarifas base. Ninguna aerolínea incluye maleta de bodega en la tarifa que alimenta los comparadores.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Mejor operador por hotel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Benchmark Isleño vs competencia internacional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Mejor aerolínea por ruta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puntos a cerrar antes de emitir. El más importante es el primero: en Cocha ningún hotel Decameron aparece en la búsqueda por destino.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502920"/>
            <a:ext cx="9418320" cy="5852160"/>
          </a:xfrm>
          <a:prstGeom prst="roundRect">
            <a:avLst>
              <a:gd name="adj" fmla="val 938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868680"/>
            <a:ext cx="3200400" cy="12435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221284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COMPETENCIA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1828800" y="269748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007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HOTELES DECAMERON CHILE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828800" y="309067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– 15 Octubre 2026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349300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CANALES:  V. FALABELLA   |   DESPEGAR   |   COCHA   |   EXPEDIA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874520" y="3950208"/>
            <a:ext cx="45720" cy="1207008"/>
          </a:xfrm>
          <a:prstGeom prst="rect">
            <a:avLst/>
          </a:prstGeom>
          <a:solidFill>
            <a:srgbClr val="E08A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20240" y="3950208"/>
            <a:ext cx="8366760" cy="1207008"/>
          </a:xfrm>
          <a:prstGeom prst="rect">
            <a:avLst/>
          </a:prstGeom>
          <a:solidFill>
            <a:srgbClr val="FBF2DF"/>
          </a:solidFill>
          <a:ln w="9525">
            <a:solidFill>
              <a:srgbClr val="E8CE9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084832" y="4041648"/>
            <a:ext cx="7955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PERIODO DE ESTE REPORTE ES EL 10 AL 15 DE OCTUBRE DE 2026. </a:t>
            </a:r>
            <a:pPr indent="0" marL="0">
              <a:buNone/>
            </a:pPr>
            <a:r>
              <a:rPr lang="en-US" sz="1000" dirty="0">
                <a:solidFill>
                  <a:srgbClr val="5C4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tablas, los cálculos de MEJOR y las comparaciones corresponden únicamente a esas fechas. Donde una celda queda en NA —hotel cotizado, sin cupo ni tarifa— la nota al pie puede incluir una cotización del </a:t>
            </a:r>
            <a:pPr indent="0" marL="0">
              <a:buNone/>
            </a:pPr>
            <a:r>
              <a:rPr lang="en-US" sz="10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al 8 de octubre</a:t>
            </a:r>
            <a:pPr indent="0" marL="0">
              <a:buNone/>
            </a:pPr>
            <a:r>
              <a:rPr lang="en-US" sz="1000" dirty="0">
                <a:solidFill>
                  <a:srgbClr val="5C4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esa cifra es </a:t>
            </a:r>
            <a:pPr indent="0" marL="0">
              <a:buNone/>
            </a:pPr>
            <a:r>
              <a:rPr lang="en-US" sz="10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REFERENCIAL</a:t>
            </a:r>
            <a:pPr indent="0" marL="0">
              <a:buNone/>
            </a:pPr>
            <a:r>
              <a:rPr lang="en-US" sz="1000" dirty="0">
                <a:solidFill>
                  <a:srgbClr val="5C4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pertenece a otro periodo, no reemplaza la celda, no entra en ningún cálculo del informe y no debe compararse con las tarifas de las tablas.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617720" y="5349240"/>
            <a:ext cx="2926080" cy="347472"/>
          </a:xfrm>
          <a:prstGeom prst="rect">
            <a:avLst>
              <a:gd name="adj" fmla="val 10526"/>
            </a:avLst>
          </a:prstGeom>
          <a:noFill/>
          <a:ln w="12700">
            <a:solidFill>
              <a:srgbClr val="003A6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INTERNA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828800" y="587044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Cotización 27/08/2026  ·  re-cotización y verificación 31/08/2026  ·  conversión CLP→USD $943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41732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057400" y="310896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COMPETENCIA</a:t>
            </a:r>
            <a:pPr indent="0" marL="0">
              <a:buNone/>
            </a:pPr>
            <a:r>
              <a:rPr lang="en-US" sz="9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periodo 10 – 15 Octubre 2026  ·  V.3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2057400" y="53035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leer este reporte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2057400" y="90525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comparación, convenciones y correcciones de la V.3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1152144"/>
            <a:ext cx="11155680" cy="0"/>
          </a:xfrm>
          <a:prstGeom prst="line">
            <a:avLst/>
          </a:prstGeom>
          <a:noFill/>
          <a:ln w="20320">
            <a:solidFill>
              <a:srgbClr val="003A6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417320"/>
            <a:ext cx="5486400" cy="1965960"/>
          </a:xfrm>
          <a:prstGeom prst="roundRect">
            <a:avLst>
              <a:gd name="adj" fmla="val 1395"/>
            </a:avLst>
          </a:prstGeom>
          <a:solidFill>
            <a:srgbClr val="F7FBFD"/>
          </a:solidFill>
          <a:ln w="9525">
            <a:solidFill>
              <a:srgbClr val="D6DFE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04088" y="1563624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COMPARACIÓN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04088" y="1892808"/>
            <a:ext cx="50840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E5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adultos · 5 noches · habitación Standard (si no hay, la categoría siguiente, declarada) · tarifa más económica de esa categoría · régimen All Inclusive donde aplica · total de la estadía en USD · conversión CLP→USD $943.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172200" y="1417320"/>
            <a:ext cx="5486400" cy="1965960"/>
          </a:xfrm>
          <a:prstGeom prst="roundRect">
            <a:avLst>
              <a:gd name="adj" fmla="val 1395"/>
            </a:avLst>
          </a:prstGeom>
          <a:solidFill>
            <a:srgbClr val="F7FBFD"/>
          </a:solidFill>
          <a:ln w="9525">
            <a:solidFill>
              <a:srgbClr val="D6DFE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73368" y="1563624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CONVENCIONES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373368" y="1892808"/>
            <a:ext cx="50840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E5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= tarifa más baja de los cuatro operadores.  ▼ más económico de la tabla  ·  ▲ más caro.  NA = se cotizó y no había disponibilidad ni tarifa.  N/D = ese canal no se cotizó para ese hotel.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02920" y="3566160"/>
            <a:ext cx="5486400" cy="1965960"/>
          </a:xfrm>
          <a:prstGeom prst="roundRect">
            <a:avLst>
              <a:gd name="adj" fmla="val 1395"/>
            </a:avLst>
          </a:prstGeom>
          <a:solidFill>
            <a:srgbClr val="F7FBFD"/>
          </a:solidFill>
          <a:ln w="9525">
            <a:solidFill>
              <a:srgbClr val="D6DFE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04088" y="3712464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CAMBIÓ EN LA V.3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04088" y="4041648"/>
            <a:ext cx="50840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E5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Panamá y Galeón recotizados en Cocha por hotel y fecha ($963 y $1,461). Barú corregido en alojamiento ($2,142) y paquetería ($3,028). Cargas dobles publicadas por su tarifa más baja, sin rotular origen.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72200" y="3566160"/>
            <a:ext cx="5486400" cy="1965960"/>
          </a:xfrm>
          <a:prstGeom prst="roundRect">
            <a:avLst>
              <a:gd name="adj" fmla="val 1395"/>
            </a:avLst>
          </a:prstGeom>
          <a:solidFill>
            <a:srgbClr val="FBF2DF"/>
          </a:solidFill>
          <a:ln w="9525">
            <a:solidFill>
              <a:srgbClr val="E8CE9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73368" y="3712464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HAY QUE SABER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73368" y="4041648"/>
            <a:ext cx="50840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4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Cocha ningún hotel Decameron aparece en la búsqueda por destino: todos hubo que encontrarlos por nombre. Las celdas son correctas, pero el cliente que busca por destino no llega a estos hoteles.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9525">
            <a:solidFill>
              <a:srgbClr val="D6DFE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0292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10561320" y="6428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1554480" cy="6035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26060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34747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D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destinos · 10 al 15 de octubre de 2026 · 2 adultos, USD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41732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057400" y="310896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COMPETENCIA</a:t>
            </a:r>
            <a:pPr indent="0" marL="0">
              <a:buNone/>
            </a:pPr>
            <a:r>
              <a:rPr lang="en-US" sz="9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periodo 10 – 15 Octubre 2026  ·  V.3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2057400" y="53035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 · SAN ANDRÉS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2057400" y="90525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ADZ · 10 – 15 Octubre 2026 · 2 adultos · USD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1152144"/>
            <a:ext cx="11155680" cy="0"/>
          </a:xfrm>
          <a:prstGeom prst="line">
            <a:avLst/>
          </a:prstGeom>
          <a:noFill/>
          <a:ln w="20320">
            <a:solidFill>
              <a:srgbClr val="003A6F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556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788920"/>
                <a:gridCol w="1234440"/>
                <a:gridCol w="1143000"/>
                <a:gridCol w="1051560"/>
                <a:gridCol w="1143000"/>
                <a:gridCol w="1417320"/>
              </a:tblGrid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 FALABELLA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DESPEGAR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EXPEDIA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ISLEÑO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$1,642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$1,642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$2,687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SAN LUIS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$1,046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57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$852 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MARAZUL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$1,066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$1,066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MARYLAND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$1,246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$1,246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LOS DELFINES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$1,344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$1,344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$1,196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$1,196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 CARIBE SAN ANDRES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$1,476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$1,476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 CARIBE CAMPO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$1,636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$1,636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DORADO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$2,272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$2,272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$1,683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$1,683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SIRENIS SAN ANDRÉS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$1,942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F3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$1,942 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02920" y="362102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Más económico de la tabla  |  ▲ Más caro  |  NA = cotizado sin disponibilidad o sin tarifa  |  N/D = canal no cotizado para ese hotel  |  Todos los precios de esta tabla son del 10 al 15 de octubre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9525">
            <a:solidFill>
              <a:srgbClr val="D6DFE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0292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 · SAN ANDRÉS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10561320" y="6428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41732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057400" y="310896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COMPETENCIA</a:t>
            </a:r>
            <a:pPr indent="0" marL="0">
              <a:buNone/>
            </a:pPr>
            <a:r>
              <a:rPr lang="en-US" sz="9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periodo 10 – 15 Octubre 2026  ·  V.3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2057400" y="53035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 · CARTAGENA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2057400" y="90525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CTG · 10 – 15 Octubre 2026 · 2 adultos · USD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1152144"/>
            <a:ext cx="11155680" cy="0"/>
          </a:xfrm>
          <a:prstGeom prst="line">
            <a:avLst/>
          </a:prstGeom>
          <a:noFill/>
          <a:ln w="20320">
            <a:solidFill>
              <a:srgbClr val="003A6F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556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788920"/>
                <a:gridCol w="1234440"/>
                <a:gridCol w="1143000"/>
                <a:gridCol w="1051560"/>
                <a:gridCol w="1143000"/>
                <a:gridCol w="1417320"/>
              </a:tblGrid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 FALABELLA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DESPEGAR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EXPEDIA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CARTAGENA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DORADO PLAZA BOCAGRANDE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$1,162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F3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$967 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 DUBAI CARTAGENA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 LA GRAN VÍA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57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$580 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02920" y="250088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Más económico de la tabla  |  ▲ Más caro  |  NA = cotizado sin disponibilidad o sin tarifa  |  N/D = canal no cotizado para ese hotel  |  Todos los precios de esta tabla son del 10 al 15 de octubre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2702052"/>
            <a:ext cx="41148" cy="740664"/>
          </a:xfrm>
          <a:prstGeom prst="rect">
            <a:avLst/>
          </a:prstGeom>
          <a:solidFill>
            <a:srgbClr val="9ED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0936" y="2702052"/>
            <a:ext cx="1102766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disponibilidad en ningún canal para estas fechas: CARTAGENA PLAZA (Expedia exige mínimo 7 noches). DECAMERON CARTAGENA figura NA en los cuatro operadores; su celda de Cocha se verificó el 31/08/2026 entrando por hotel y fecha —no por búsqueda de destino— y el hotel efectivamente no tiene cupo. VALOR REFERENCIAL del 3 al 8 de octubre: V. Falabella lo cotiza en US$ 1,136 (tarifa promocional −35%, impuestos incluidos). También está sin cupo en la venta web directa; del 3 al 8 el canal directo (decameronchile.cl) lo cotiza en habitación Estándar US$ 979 No Reembolsable y US$ 1,085 Flex. Cotizado el 31/08/2026.</a:t>
            </a:r>
            <a:endParaRPr lang="en-US" sz="780" dirty="0"/>
          </a:p>
        </p:txBody>
      </p:sp>
      <p:sp>
        <p:nvSpPr>
          <p:cNvPr id="11" name="Shape 7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9525">
            <a:solidFill>
              <a:srgbClr val="D6DFE7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0292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 · CARTAGENA</a:t>
            </a:r>
            <a:endParaRPr lang="en-US" sz="800" dirty="0"/>
          </a:p>
        </p:txBody>
      </p:sp>
      <p:sp>
        <p:nvSpPr>
          <p:cNvPr id="13" name="Text 9"/>
          <p:cNvSpPr txBox="1"/>
          <p:nvPr/>
        </p:nvSpPr>
        <p:spPr>
          <a:xfrm>
            <a:off x="10561320" y="6428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41732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057400" y="310896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COMPETENCIA</a:t>
            </a:r>
            <a:pPr indent="0" marL="0">
              <a:buNone/>
            </a:pPr>
            <a:r>
              <a:rPr lang="en-US" sz="9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periodo 10 – 15 Octubre 2026  ·  V.3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2057400" y="53035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 · PUNTA SAL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2057400" y="90525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TBP · 10 – 15 Octubre 2026 · 2 adultos · USD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1152144"/>
            <a:ext cx="11155680" cy="0"/>
          </a:xfrm>
          <a:prstGeom prst="line">
            <a:avLst/>
          </a:prstGeom>
          <a:noFill/>
          <a:ln w="20320">
            <a:solidFill>
              <a:srgbClr val="003A6F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556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788920"/>
                <a:gridCol w="1234440"/>
                <a:gridCol w="1143000"/>
                <a:gridCol w="1051560"/>
                <a:gridCol w="1143000"/>
                <a:gridCol w="1417320"/>
              </a:tblGrid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 FALABELLA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DESPEGAR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EXPEDIA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ROYAL DECAMERON PUNTA SAL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02920" y="1828800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Más económico de la tabla  |  ▲ Más caro  |  NA = cotizado sin disponibilidad o sin tarifa  |  N/D = canal no cotizado para ese hotel  |  Todos los precios de esta tabla son del 10 al 15 de octubre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2029968"/>
            <a:ext cx="41148" cy="274320"/>
          </a:xfrm>
          <a:prstGeom prst="rect">
            <a:avLst/>
          </a:prstGeom>
          <a:solidFill>
            <a:srgbClr val="9ED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0936" y="202996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oferta All Inclusive comparable en la zona; el contraste se realiza entre operadores sobre el mismo producto Decameron.</a:t>
            </a:r>
            <a:endParaRPr lang="en-US" sz="780" dirty="0"/>
          </a:p>
        </p:txBody>
      </p:sp>
      <p:sp>
        <p:nvSpPr>
          <p:cNvPr id="11" name="Shape 7"/>
          <p:cNvSpPr/>
          <p:nvPr/>
        </p:nvSpPr>
        <p:spPr>
          <a:xfrm>
            <a:off x="502920" y="2359152"/>
            <a:ext cx="41148" cy="896112"/>
          </a:xfrm>
          <a:prstGeom prst="rect">
            <a:avLst/>
          </a:prstGeom>
          <a:solidFill>
            <a:srgbClr val="9ED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30936" y="2359152"/>
            <a:ext cx="110276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DECAMERON PUNTA SAL figura NA porque está sin cupo para estas fechas en los cuatro operadores; su celda de Cocha se verificó el 31/08/2026 entrando por hotel y fecha y el hotel efectivamente no tiene cupo. VALOR REFERENCIAL del 3 al 8 de octubre: Despegar sí lo vende, en US$ 1,593 por la estadía (All Inclusive, impuestos incluidos, 5 noches y 2 personas). V. Falabella, en cambio, también sale sin disponibilidad para esas fechas: de los operadores consultados, Despegar es el único con tarifa. En la venta web directa está igualmente sin cupo; del 3 al 8 el canal directo lo vende en US$ 1,524 (Superior Plus, única categoría publicada, sin rótulo de modalidad). Cotizado el 31/08/2026.</a:t>
            </a:r>
            <a:endParaRPr lang="en-US" sz="780" dirty="0"/>
          </a:p>
        </p:txBody>
      </p:sp>
      <p:sp>
        <p:nvSpPr>
          <p:cNvPr id="13" name="Shape 9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9525">
            <a:solidFill>
              <a:srgbClr val="D6DFE7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0292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 · PUNTA SAL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10561320" y="6428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41732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057400" y="310896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COMPETENCIA</a:t>
            </a:r>
            <a:pPr indent="0" marL="0">
              <a:buNone/>
            </a:pPr>
            <a:r>
              <a:rPr lang="en-US" sz="9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periodo 10 – 15 Octubre 2026  ·  V.3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2057400" y="53035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 · PANAMÁ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2057400" y="90525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PTY · 10 – 15 Octubre 2026 · 2 adultos · USD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1152144"/>
            <a:ext cx="11155680" cy="0"/>
          </a:xfrm>
          <a:prstGeom prst="line">
            <a:avLst/>
          </a:prstGeom>
          <a:noFill/>
          <a:ln w="20320">
            <a:solidFill>
              <a:srgbClr val="003A6F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556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788920"/>
                <a:gridCol w="1234440"/>
                <a:gridCol w="1143000"/>
                <a:gridCol w="1051560"/>
                <a:gridCol w="1143000"/>
                <a:gridCol w="1417320"/>
              </a:tblGrid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 FALABELLA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DESPEGAR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EXPEDIA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DECAMERON PANAMÁ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$963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$963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RIU PLAYA BLANCA ALL INCLUSIVE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$1,087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$1,059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$1,059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 EVENIA BIJAO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$788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57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$788 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DREAMS PLAYA BONITA PANAMA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$1,392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F3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$1,207 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02920" y="250088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Más económico de la tabla  |  ▲ Más caro  |  NA = cotizado sin disponibilidad o sin tarifa  |  N/D = canal no cotizado para ese hotel  |  Todos los precios de esta tabla son del 10 al 15 de octubre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2702052"/>
            <a:ext cx="41148" cy="429768"/>
          </a:xfrm>
          <a:prstGeom prst="rect">
            <a:avLst/>
          </a:prstGeom>
          <a:solidFill>
            <a:srgbClr val="9ED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0936" y="2702052"/>
            <a:ext cx="110276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operador tiene este hotel cargado dos veces con tarifas distintas. Se publica la más baja; la otra quedaba en $1,177. El origen de cada carga no está verificado con el operador, por eso no se rotula.</a:t>
            </a:r>
            <a:endParaRPr lang="en-US" sz="780" dirty="0"/>
          </a:p>
        </p:txBody>
      </p:sp>
      <p:sp>
        <p:nvSpPr>
          <p:cNvPr id="11" name="Shape 7"/>
          <p:cNvSpPr/>
          <p:nvPr/>
        </p:nvSpPr>
        <p:spPr>
          <a:xfrm>
            <a:off x="502920" y="3186684"/>
            <a:ext cx="41148" cy="585216"/>
          </a:xfrm>
          <a:prstGeom prst="rect">
            <a:avLst/>
          </a:prstGeom>
          <a:solidFill>
            <a:srgbClr val="9ED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30936" y="3186684"/>
            <a:ext cx="11027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Celda de Cocha recotizada el 31/08/2026 entrando por hotel y fecha: $963 (habitación estándar con vista al jardín, cancelación gratuita hasta el 6 de octubre). IMPORTANTE: en Cocha, TODOS los hoteles Decameron de este informe debieron buscarse por nombre de hotel; ninguno se obtuvo desde la búsqueda de destino, ni en alojamiento ni en paquetería. Las celdas de Cocha son correctas, pero un cliente que busca por destino no llega a estos hoteles.</a:t>
            </a:r>
            <a:endParaRPr lang="en-US" sz="780" dirty="0"/>
          </a:p>
        </p:txBody>
      </p:sp>
      <p:sp>
        <p:nvSpPr>
          <p:cNvPr id="13" name="Shape 9"/>
          <p:cNvSpPr/>
          <p:nvPr/>
        </p:nvSpPr>
        <p:spPr>
          <a:xfrm>
            <a:off x="502920" y="3826764"/>
            <a:ext cx="41148" cy="429768"/>
          </a:xfrm>
          <a:prstGeom prst="rect">
            <a:avLst/>
          </a:prstGeom>
          <a:solidFill>
            <a:srgbClr val="9ED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30936" y="3826764"/>
            <a:ext cx="110276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REFERENCIAL del 3 al 8 de octubre: V. Falabella cotiza el hotel en US$ 1,480 (alojamiento, All Inclusive). El canal directo lo cotiza en US$ 875 (Garden View: no publica Standard en esas fechas, se declara la categoría). Cotizado el 31/08/2026.</a:t>
            </a:r>
            <a:endParaRPr lang="en-US" sz="780" dirty="0"/>
          </a:p>
        </p:txBody>
      </p:sp>
      <p:sp>
        <p:nvSpPr>
          <p:cNvPr id="15" name="Shape 11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9525">
            <a:solidFill>
              <a:srgbClr val="D6DFE7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0292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 · PANAMÁ</a:t>
            </a:r>
            <a:endParaRPr lang="en-US" sz="800" dirty="0"/>
          </a:p>
        </p:txBody>
      </p:sp>
      <p:sp>
        <p:nvSpPr>
          <p:cNvPr id="17" name="Text 13"/>
          <p:cNvSpPr txBox="1"/>
          <p:nvPr/>
        </p:nvSpPr>
        <p:spPr>
          <a:xfrm>
            <a:off x="10561320" y="6428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41732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057400" y="310896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COMPETENCIA</a:t>
            </a:r>
            <a:pPr indent="0" marL="0">
              <a:buNone/>
            </a:pPr>
            <a:r>
              <a:rPr lang="en-US" sz="9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periodo 10 – 15 Octubre 2026  ·  V.3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2057400" y="53035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 · SANTA MARTA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2057400" y="90525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SMR · 10 – 15 Octubre 2026 · 2 adultos · USD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1152144"/>
            <a:ext cx="11155680" cy="0"/>
          </a:xfrm>
          <a:prstGeom prst="line">
            <a:avLst/>
          </a:prstGeom>
          <a:noFill/>
          <a:ln w="20320">
            <a:solidFill>
              <a:srgbClr val="003A6F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556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788920"/>
                <a:gridCol w="1234440"/>
                <a:gridCol w="1143000"/>
                <a:gridCol w="1051560"/>
                <a:gridCol w="1143000"/>
                <a:gridCol w="1417320"/>
              </a:tblGrid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 FALABELLA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DESPEGAR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EXPEDIA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GALEÓN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$1,461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57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$1,461 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 PORTO HORIZONTE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$1,758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$1,758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F3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$1,756 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02920" y="20528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Más económico de la tabla  |  ▲ Más caro  |  NA = cotizado sin disponibilidad o sin tarifa  |  N/D = canal no cotizado para ese hotel  |  Todos los precios de esta tabla son del 10 al 15 de octubre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2253996"/>
            <a:ext cx="41148" cy="585216"/>
          </a:xfrm>
          <a:prstGeom prst="rect">
            <a:avLst/>
          </a:prstGeom>
          <a:solidFill>
            <a:srgbClr val="9ED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0936" y="2253996"/>
            <a:ext cx="11027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Celda de Cocha REHECHA el 31/08/2026 entrando por hotel y fecha: US$ 1,461 en habitación Estándar, todo incluido, sin cambio ni devolución (la misma Estándar con cancelación gratuita hasta el 29/09: US$ 1,624). El NA anterior no era falta de cupo: el hotel no aparece en la búsqueda de destino de Cocha. V. Falabella, Despegar y Expedia siguen sin tarifa; VALOR REFERENCIAL del 3 al 8: V. Falabella US$ 1,682 y Despegar US$ 1,660, ambas con aviso «Solo queda 1» (tarifa de última habitación).</a:t>
            </a:r>
            <a:endParaRPr lang="en-US" sz="780" dirty="0"/>
          </a:p>
        </p:txBody>
      </p:sp>
      <p:sp>
        <p:nvSpPr>
          <p:cNvPr id="11" name="Shape 7"/>
          <p:cNvSpPr/>
          <p:nvPr/>
        </p:nvSpPr>
        <p:spPr>
          <a:xfrm>
            <a:off x="502920" y="2894076"/>
            <a:ext cx="41148" cy="274320"/>
          </a:xfrm>
          <a:prstGeom prst="rect">
            <a:avLst/>
          </a:prstGeom>
          <a:solidFill>
            <a:srgbClr val="9ED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30936" y="289407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disponibilidad en ningún canal para estas fechas: IROTAMA DEL SOL.</a:t>
            </a:r>
            <a:endParaRPr lang="en-US" sz="780" dirty="0"/>
          </a:p>
        </p:txBody>
      </p:sp>
      <p:sp>
        <p:nvSpPr>
          <p:cNvPr id="13" name="Shape 9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9525">
            <a:solidFill>
              <a:srgbClr val="D6DFE7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0292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 · SANTA MARTA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10561320" y="6428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41732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057400" y="310896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COMPETENCIA</a:t>
            </a:r>
            <a:pPr indent="0" marL="0">
              <a:buNone/>
            </a:pPr>
            <a:r>
              <a:rPr lang="en-US" sz="9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periodo 10 – 15 Octubre 2026  ·  V.3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2057400" y="53035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 · MÉXICO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2057400" y="90525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 · 10 – 15 Octubre 2026 · 2 adultos · USD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1152144"/>
            <a:ext cx="11155680" cy="0"/>
          </a:xfrm>
          <a:prstGeom prst="line">
            <a:avLst/>
          </a:prstGeom>
          <a:noFill/>
          <a:ln w="20320">
            <a:solidFill>
              <a:srgbClr val="003A6F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556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788920"/>
                <a:gridCol w="1234440"/>
                <a:gridCol w="1143000"/>
                <a:gridCol w="1051560"/>
                <a:gridCol w="1143000"/>
                <a:gridCol w="1417320"/>
              </a:tblGrid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 FALABELLA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DESPEGAR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EXPEDIA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DECAMERON COMPLEX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$1,163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$1,357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57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$1,163 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DECAMERON LOS CABOS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$1,479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$1,479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F3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$1,479 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02920" y="20528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Más económico de la tabla  |  ▲ Más caro  |  NA = cotizado sin disponibilidad o sin tarifa  |  N/D = canal no cotizado para ese hotel  |  Todos los precios de esta tabla son del 10 al 15 de octubre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9525">
            <a:solidFill>
              <a:srgbClr val="D6DFE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0292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 · MÉXICO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10561320" y="6428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41732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057400" y="310896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COMPETENCIA</a:t>
            </a:r>
            <a:pPr indent="0" marL="0">
              <a:buNone/>
            </a:pPr>
            <a:r>
              <a:rPr lang="en-US" sz="9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periodo 10 – 15 Octubre 2026  ·  V.3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2057400" y="53035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 — Isleño vs competencia internacional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2057400" y="90525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Referencia: Decameron Isleño $1,467, mejor tarifa OTA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1152144"/>
            <a:ext cx="11155680" cy="0"/>
          </a:xfrm>
          <a:prstGeom prst="line">
            <a:avLst/>
          </a:prstGeom>
          <a:noFill/>
          <a:ln w="20320">
            <a:solidFill>
              <a:srgbClr val="003A6F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5568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2331720"/>
                <a:gridCol w="548640"/>
                <a:gridCol w="1051560"/>
                <a:gridCol w="960120"/>
                <a:gridCol w="868680"/>
                <a:gridCol w="914400"/>
                <a:gridCol w="1234440"/>
                <a:gridCol w="1097280"/>
              </a:tblGrid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 FALABELLA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DESPEGAR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EXPEDIA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ISLEÑO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ISLEÑO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ADZ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$1,642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$1,642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$1,467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$2,687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$1,467 ★ REF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BARÚ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$2,142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$1,928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$2,440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PUNTA CANA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BARCELO BAVARO PALACE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PUJ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$1,143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+33%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PUNTA CANA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SERENADE CARIBE CLUB FAMILY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PUJ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$1,221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+46%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PUNTA CANA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SIRENIS PUNTA CANA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PUJ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$891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$891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+65%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PUNTA CANA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VIK HOTEL CAYENA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PUJ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+22%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CANCÚN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RIU DUNAMAR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$1,046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$1,197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+46%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CANCÚN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FLAMINGO CANCUN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$1,090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$1,090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+46%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CANCÚN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SUNSET MARINA RESORT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$1,293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57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$859 ▼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+71%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CANCÚN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DREAMS RIVIERA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$1,377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+22%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CANCÚN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HYATT VIVID CANCUN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+3%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CURAZAO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ZOËTRY CURAÇAO RESORT &amp; SPA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$2,784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$2,784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$2,266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$2,780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$2,266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−35%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CURAZAO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MANGROVE BEACH CORENDON CURAÇAO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$1,831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$1,831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−20%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CURAZAO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DREAMS CURACAO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$2,238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$2,238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$1,864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$2,237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$1,864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−21%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02920" y="44348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REF = referencia del benchmark (Isleño $1,467, mejor tarifa OTA)  |  ▼ competidor más económico  |  Última columna, base precio del competidor: Isleño +X% = el Isleño está X% más caro que ese hotel; Isleño −X% = está X% más barato. MEJOR considera solo canales OTA.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9525">
            <a:solidFill>
              <a:srgbClr val="D6DFE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0292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internacional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10561320" y="6428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1554480" cy="6035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26060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Paquetería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34747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D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+ aéreo · 10 al 15 de octubre de 2026 · 2 adultos, USD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41732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057400" y="310896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COMPETENCIA</a:t>
            </a:r>
            <a:pPr indent="0" marL="0">
              <a:buNone/>
            </a:pPr>
            <a:r>
              <a:rPr lang="en-US" sz="9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periodo 10 – 15 Octubre 2026  ·  V.3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2057400" y="53035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Paquetería · SAN ANDRÉS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2057400" y="90525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ADZ · 10 – 15 Octubre 2026 · 2 adultos · USD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1152144"/>
            <a:ext cx="11155680" cy="0"/>
          </a:xfrm>
          <a:prstGeom prst="line">
            <a:avLst/>
          </a:prstGeom>
          <a:noFill/>
          <a:ln w="20320">
            <a:solidFill>
              <a:srgbClr val="003A6F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556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788920"/>
                <a:gridCol w="1234440"/>
                <a:gridCol w="1143000"/>
                <a:gridCol w="1051560"/>
                <a:gridCol w="1143000"/>
                <a:gridCol w="1417320"/>
              </a:tblGrid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 FALABELLA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DESPEGAR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EXPEDIA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ISLEÑO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$3,117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SAN LUIS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$2,191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57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$1,697 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MARAZUL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$1,737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$2,726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$1,737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MARYLAND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$1,894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$2,035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$1,963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$1,894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LOS DELFINES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$1,886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$2,065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$2,046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$1,886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 CARIBE SAN ANDRES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$2,236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 CARIBE CAMPO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DORADO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$2,481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F3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$2,481 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SIRENIS SAN ANDRÉS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$2,718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$2,713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$2,882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02920" y="362102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Más económico de la tabla  |  ▲ Más caro  |  NA = cotizado sin disponibilidad o sin tarifa  |  N/D = canal no cotizado para ese hotel  |  Todos los precios de esta tabla son del 10 al 15 de octubre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9525">
            <a:solidFill>
              <a:srgbClr val="D6DFE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0292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Paquetería · SAN ANDRÉS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10561320" y="6428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41732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057400" y="310896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COMPETENCIA</a:t>
            </a:r>
            <a:pPr indent="0" marL="0">
              <a:buNone/>
            </a:pPr>
            <a:r>
              <a:rPr lang="en-US" sz="9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periodo 10 – 15 Octubre 2026  ·  V.3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2057400" y="53035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Paquetería · CARTAGENA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2057400" y="90525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CTG · 10 – 15 Octubre 2026 · 2 adultos · USD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1152144"/>
            <a:ext cx="11155680" cy="0"/>
          </a:xfrm>
          <a:prstGeom prst="line">
            <a:avLst/>
          </a:prstGeom>
          <a:noFill/>
          <a:ln w="20320">
            <a:solidFill>
              <a:srgbClr val="003A6F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556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788920"/>
                <a:gridCol w="1234440"/>
                <a:gridCol w="1143000"/>
                <a:gridCol w="1051560"/>
                <a:gridCol w="1143000"/>
                <a:gridCol w="1417320"/>
              </a:tblGrid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 FALABELLA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DESPEGAR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EXPEDIA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CARTAGENA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DORADO PLAZA BOCAGRANDE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$1,954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$1,976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F3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$1,954 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 DUBAI CARTAGENA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$1,564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$1,564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 LA GRAN VÍA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$1,542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57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$1,542 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02920" y="250088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Más económico de la tabla  |  ▲ Más caro  |  NA = cotizado sin disponibilidad o sin tarifa  |  N/D = canal no cotizado para ese hotel  |  Todos los precios de esta tabla son del 10 al 15 de octubre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2702052"/>
            <a:ext cx="41148" cy="429768"/>
          </a:xfrm>
          <a:prstGeom prst="rect">
            <a:avLst/>
          </a:prstGeom>
          <a:solidFill>
            <a:srgbClr val="9ED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0936" y="2702052"/>
            <a:ext cx="110276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DECAMERON CARTAGENA y CARTAGENA PLAZA sin disponibilidad en ningún canal para estas fechas; la celda de Cocha del Decameron se verificó por hotel y fecha el 31/08/2026 y confirma que no hay cupo. Del 3 al 8 de octubre V. Falabella también cotiza el paquete del Decameron Cartagena sin disponibilidad (NA).</a:t>
            </a:r>
            <a:endParaRPr lang="en-US" sz="780" dirty="0"/>
          </a:p>
        </p:txBody>
      </p:sp>
      <p:sp>
        <p:nvSpPr>
          <p:cNvPr id="11" name="Shape 7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9525">
            <a:solidFill>
              <a:srgbClr val="D6DFE7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0292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Paquetería · CARTAGENA</a:t>
            </a:r>
            <a:endParaRPr lang="en-US" sz="800" dirty="0"/>
          </a:p>
        </p:txBody>
      </p:sp>
      <p:sp>
        <p:nvSpPr>
          <p:cNvPr id="13" name="Text 9"/>
          <p:cNvSpPr txBox="1"/>
          <p:nvPr/>
        </p:nvSpPr>
        <p:spPr>
          <a:xfrm>
            <a:off x="10561320" y="6428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41732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057400" y="310896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COMPETENCIA</a:t>
            </a:r>
            <a:pPr indent="0" marL="0">
              <a:buNone/>
            </a:pPr>
            <a:r>
              <a:rPr lang="en-US" sz="9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periodo 10 – 15 Octubre 2026  ·  V.3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2057400" y="53035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Paquetería · PUNTA SAL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2057400" y="90525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TBP · 10 – 15 Octubre 2026 · 2 adultos · USD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1152144"/>
            <a:ext cx="11155680" cy="0"/>
          </a:xfrm>
          <a:prstGeom prst="line">
            <a:avLst/>
          </a:prstGeom>
          <a:noFill/>
          <a:ln w="20320">
            <a:solidFill>
              <a:srgbClr val="003A6F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556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788920"/>
                <a:gridCol w="1234440"/>
                <a:gridCol w="1143000"/>
                <a:gridCol w="1051560"/>
                <a:gridCol w="1143000"/>
                <a:gridCol w="1417320"/>
              </a:tblGrid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 FALABELLA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DESPEGAR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EXPEDIA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ROYAL DECAMERON PUNTA SAL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02920" y="1828800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Más económico de la tabla  |  ▲ Más caro  |  NA = cotizado sin disponibilidad o sin tarifa  |  N/D = canal no cotizado para ese hotel  |  Todos los precios de esta tabla son del 10 al 15 de octubre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2029968"/>
            <a:ext cx="41148" cy="274320"/>
          </a:xfrm>
          <a:prstGeom prst="rect">
            <a:avLst/>
          </a:prstGeom>
          <a:solidFill>
            <a:srgbClr val="9ED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0936" y="202996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oferta All Inclusive comparable en la zona; el contraste se realiza entre operadores sobre el mismo producto Decameron.</a:t>
            </a:r>
            <a:endParaRPr lang="en-US" sz="780" dirty="0"/>
          </a:p>
        </p:txBody>
      </p:sp>
      <p:sp>
        <p:nvSpPr>
          <p:cNvPr id="11" name="Shape 7"/>
          <p:cNvSpPr/>
          <p:nvPr/>
        </p:nvSpPr>
        <p:spPr>
          <a:xfrm>
            <a:off x="502920" y="2359152"/>
            <a:ext cx="41148" cy="740664"/>
          </a:xfrm>
          <a:prstGeom prst="rect">
            <a:avLst/>
          </a:prstGeom>
          <a:solidFill>
            <a:srgbClr val="9ED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30936" y="2359152"/>
            <a:ext cx="1102766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DECAMERON PUNTA SAL figura sin disponibilidad en los cuatro operadores, con la celda de Cocha verificada por hotel y fecha el 31/08/2026; del 3 al 8 de octubre también aparece sin cupo en V. Falabella. La referencia de Despegar para esas fechas (US$ 1,593) es solo alojamiento y no es comparable con esta tabla: la columna de paquetería es el paquete que arma el operador, otro producto. La referencia de alojamiento del canal directo (US$ 1,524) no es comparable con esta tabla: la columna de paquetería es el paquete que arma el operador, otro producto.</a:t>
            </a:r>
            <a:endParaRPr lang="en-US" sz="780" dirty="0"/>
          </a:p>
        </p:txBody>
      </p:sp>
      <p:sp>
        <p:nvSpPr>
          <p:cNvPr id="13" name="Shape 9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9525">
            <a:solidFill>
              <a:srgbClr val="D6DFE7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0292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Paquetería · PUNTA SAL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10561320" y="6428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41732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057400" y="310896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COMPETENCIA</a:t>
            </a:r>
            <a:pPr indent="0" marL="0">
              <a:buNone/>
            </a:pPr>
            <a:r>
              <a:rPr lang="en-US" sz="9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periodo 10 – 15 Octubre 2026  ·  V.3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2057400" y="53035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Paquetería · PANAMÁ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2057400" y="90525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PTY · 10 – 15 Octubre 2026 · 2 adultos · USD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1152144"/>
            <a:ext cx="11155680" cy="0"/>
          </a:xfrm>
          <a:prstGeom prst="line">
            <a:avLst/>
          </a:prstGeom>
          <a:noFill/>
          <a:ln w="20320">
            <a:solidFill>
              <a:srgbClr val="003A6F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556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788920"/>
                <a:gridCol w="1234440"/>
                <a:gridCol w="1143000"/>
                <a:gridCol w="1051560"/>
                <a:gridCol w="1143000"/>
                <a:gridCol w="1417320"/>
              </a:tblGrid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 FALABELLA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DESPEGAR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EXPEDIA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DECAMERON PANAMÁ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$2,588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$2,273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$2,273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RIU PLAYA BLANCA ALL INCLUSIVE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$2,576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$2,650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$2,366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$2,366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 EVENIA BIJAO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$2,346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57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$2,105 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DREAMS PLAYA BONITA PANAMA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$2,772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$2,863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$2,496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F3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$2,496 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02920" y="250088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Más económico de la tabla  |  ▲ Más caro  |  NA = cotizado sin disponibilidad o sin tarifa  |  N/D = canal no cotizado para ese hotel  |  Todos los precios de esta tabla son del 10 al 15 de octubre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2702052"/>
            <a:ext cx="41148" cy="274320"/>
          </a:xfrm>
          <a:prstGeom prst="rect">
            <a:avLst/>
          </a:prstGeom>
          <a:solidFill>
            <a:srgbClr val="9ED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0936" y="270205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operador tiene este hotel cargado dos veces; se publica la más baja y la otra quedaba en $2,756. El origen de cada carga no está verificado, por eso no se rotula.</a:t>
            </a:r>
            <a:endParaRPr lang="en-US" sz="780" dirty="0"/>
          </a:p>
        </p:txBody>
      </p:sp>
      <p:sp>
        <p:nvSpPr>
          <p:cNvPr id="11" name="Shape 7"/>
          <p:cNvSpPr/>
          <p:nvPr/>
        </p:nvSpPr>
        <p:spPr>
          <a:xfrm>
            <a:off x="502920" y="3031236"/>
            <a:ext cx="41148" cy="274320"/>
          </a:xfrm>
          <a:prstGeom prst="rect">
            <a:avLst/>
          </a:prstGeom>
          <a:solidFill>
            <a:srgbClr val="9ED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30936" y="303123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re-cotización del 28/08 Expedia bloqueó la consulta automática; su columna de paquetería queda sin cotizar (N/D).</a:t>
            </a:r>
            <a:endParaRPr lang="en-US" sz="780" dirty="0"/>
          </a:p>
        </p:txBody>
      </p:sp>
      <p:sp>
        <p:nvSpPr>
          <p:cNvPr id="13" name="Shape 9"/>
          <p:cNvSpPr/>
          <p:nvPr/>
        </p:nvSpPr>
        <p:spPr>
          <a:xfrm>
            <a:off x="502920" y="3360420"/>
            <a:ext cx="41148" cy="429768"/>
          </a:xfrm>
          <a:prstGeom prst="rect">
            <a:avLst/>
          </a:prstGeom>
          <a:solidFill>
            <a:srgbClr val="9ED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30936" y="3360420"/>
            <a:ext cx="110276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REFERENCIAL del 3 al 8 de octubre: V. Falabella cotiza el paquete (vuelo + alojamiento, impuestos y tasas incluidos) en US$ 2,555 para 2 personas ($2.409.546 CLP al cambio de $943).</a:t>
            </a:r>
            <a:endParaRPr lang="en-US" sz="780" dirty="0"/>
          </a:p>
        </p:txBody>
      </p:sp>
      <p:sp>
        <p:nvSpPr>
          <p:cNvPr id="15" name="Shape 11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9525">
            <a:solidFill>
              <a:srgbClr val="D6DFE7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0292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Paquetería · PANAMÁ</a:t>
            </a:r>
            <a:endParaRPr lang="en-US" sz="800" dirty="0"/>
          </a:p>
        </p:txBody>
      </p:sp>
      <p:sp>
        <p:nvSpPr>
          <p:cNvPr id="17" name="Text 13"/>
          <p:cNvSpPr txBox="1"/>
          <p:nvPr/>
        </p:nvSpPr>
        <p:spPr>
          <a:xfrm>
            <a:off x="10561320" y="6428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41732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057400" y="310896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COMPETENCIA</a:t>
            </a:r>
            <a:pPr indent="0" marL="0">
              <a:buNone/>
            </a:pPr>
            <a:r>
              <a:rPr lang="en-US" sz="9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periodo 10 – 15 Octubre 2026  ·  V.3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2057400" y="53035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Paquetería · SANTA MARTA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2057400" y="90525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SMR · 10 – 15 Octubre 2026 · 2 adultos · USD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1152144"/>
            <a:ext cx="11155680" cy="0"/>
          </a:xfrm>
          <a:prstGeom prst="line">
            <a:avLst/>
          </a:prstGeom>
          <a:noFill/>
          <a:ln w="20320">
            <a:solidFill>
              <a:srgbClr val="003A6F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556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788920"/>
                <a:gridCol w="1234440"/>
                <a:gridCol w="1143000"/>
                <a:gridCol w="1051560"/>
                <a:gridCol w="1143000"/>
                <a:gridCol w="1417320"/>
              </a:tblGrid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 FALABELLA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DESPEGAR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EXPEDIA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GALEÓN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$3,357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F3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$3,357 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 PORTO HORIZONTE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$3,163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$2,459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$2,610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57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$2,267 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02920" y="20528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Más económico de la tabla  |  ▲ Más caro  |  NA = cotizado sin disponibilidad o sin tarifa  |  N/D = canal no cotizado para ese hotel  |  Todos los precios de esta tabla son del 10 al 15 de octubre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2253996"/>
            <a:ext cx="41148" cy="585216"/>
          </a:xfrm>
          <a:prstGeom prst="rect">
            <a:avLst/>
          </a:prstGeom>
          <a:solidFill>
            <a:srgbClr val="9ED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0936" y="2253996"/>
            <a:ext cx="11027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paquete del Galeón existe solo en Cocha ($3,357). La contradicción que traía el informe —paquete disponible con alojamiento «sin cupo»— quedó resuelta: la celda equivocada era la de alojamiento, ya corregida (US$ 1,461). VALOR REFERENCIAL del 3 al 8: Despegar cotiza el paquete en US$ 2,651 para 2 personas, vuelo con escalas SCL↔SMR, impuestos incluidos.</a:t>
            </a:r>
            <a:endParaRPr lang="en-US" sz="780" dirty="0"/>
          </a:p>
        </p:txBody>
      </p:sp>
      <p:sp>
        <p:nvSpPr>
          <p:cNvPr id="11" name="Shape 7"/>
          <p:cNvSpPr/>
          <p:nvPr/>
        </p:nvSpPr>
        <p:spPr>
          <a:xfrm>
            <a:off x="502920" y="2894076"/>
            <a:ext cx="41148" cy="274320"/>
          </a:xfrm>
          <a:prstGeom prst="rect">
            <a:avLst/>
          </a:prstGeom>
          <a:solidFill>
            <a:srgbClr val="9ED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30936" y="289407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disponibilidad en ningún canal para estas fechas: IROTAMA DEL SOL.</a:t>
            </a:r>
            <a:endParaRPr lang="en-US" sz="780" dirty="0"/>
          </a:p>
        </p:txBody>
      </p:sp>
      <p:sp>
        <p:nvSpPr>
          <p:cNvPr id="13" name="Shape 9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9525">
            <a:solidFill>
              <a:srgbClr val="D6DFE7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0292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Paquetería · SANTA MARTA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10561320" y="6428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41732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057400" y="310896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COMPETENCIA</a:t>
            </a:r>
            <a:pPr indent="0" marL="0">
              <a:buNone/>
            </a:pPr>
            <a:r>
              <a:rPr lang="en-US" sz="9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periodo 10 – 15 Octubre 2026  ·  V.3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2057400" y="53035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Paquetería · MÉXICO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2057400" y="90525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 · 10 – 15 Octubre 2026 · 2 adultos · USD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1152144"/>
            <a:ext cx="11155680" cy="0"/>
          </a:xfrm>
          <a:prstGeom prst="line">
            <a:avLst/>
          </a:prstGeom>
          <a:noFill/>
          <a:ln w="20320">
            <a:solidFill>
              <a:srgbClr val="003A6F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556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788920"/>
                <a:gridCol w="1234440"/>
                <a:gridCol w="1143000"/>
                <a:gridCol w="1051560"/>
                <a:gridCol w="1143000"/>
                <a:gridCol w="1417320"/>
              </a:tblGrid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 FALABELLA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DESPEGAR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EXPEDIA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DECAMERON COMPLEX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$3,097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$3,364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57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$3,097 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DECAMERON LOS CABOS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$3,946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$4,306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$3,108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$3,155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F3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$3,108 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02920" y="20528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Más económico de la tabla  |  ▲ Más caro  |  NA = cotizado sin disponibilidad o sin tarifa  |  N/D = canal no cotizado para ese hotel  |  Todos los precios de esta tabla son del 10 al 15 de octubre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9525">
            <a:solidFill>
              <a:srgbClr val="D6DFE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0292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Paquetería · MÉXICO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10561320" y="6428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41732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057400" y="310896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COMPETENCIA</a:t>
            </a:r>
            <a:pPr indent="0" marL="0">
              <a:buNone/>
            </a:pPr>
            <a:r>
              <a:rPr lang="en-US" sz="9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periodo 10 – 15 Octubre 2026  ·  V.3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2057400" y="53035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Paquetería — Isleño vs competencia internacional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2057400" y="90525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Referencia: Decameron Isleño $2,074, mejor tarifa OTA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1152144"/>
            <a:ext cx="11155680" cy="0"/>
          </a:xfrm>
          <a:prstGeom prst="line">
            <a:avLst/>
          </a:prstGeom>
          <a:noFill/>
          <a:ln w="20320">
            <a:solidFill>
              <a:srgbClr val="003A6F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5568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2331720"/>
                <a:gridCol w="548640"/>
                <a:gridCol w="1051560"/>
                <a:gridCol w="960120"/>
                <a:gridCol w="868680"/>
                <a:gridCol w="914400"/>
                <a:gridCol w="1234440"/>
                <a:gridCol w="1097280"/>
              </a:tblGrid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 FALABELLA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DESPEGAR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EXPEDIA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ISLEÑO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ISLEÑO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ADZ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$2,074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$2,316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$3,117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$2,074 ★ REF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BARÚ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$3,028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$2,636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$2,605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$3,479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$2,605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PUNTA CANA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BARCELO BAVARO PALACE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PUJ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$2,296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$2,393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$2,327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$2,296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−10%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PUNTA CANA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SERENADE CARIBE CLUB FAMILY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PUJ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$2,232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$2,391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$2,351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$2,232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−7%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PUNTA CANA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SIRENIS PUNTA CANA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PUJ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$2,282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$2,218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$2,681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57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$2,119 ▼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−2%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PUNTA CANA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VIK HOTEL CAYENA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PUJ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$2,475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$2,596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$2,475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−16%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CANCÚN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RIU DUNAMAR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$2,371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$2,349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$2,349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−12%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CANCÚN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FLAMINGO CANCUN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$2,609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$2,375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−10%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CANCÚN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SUNSET MARINA RESORT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$2,274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$2,332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−7%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CANCÚN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DREAMS RIVIERA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$2,714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$2,714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−24%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CANCÚN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HYATT VIVID CANCUN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$2,666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$2,890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$2,817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$2,666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−22%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CURAZAO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ZOËTRY CURAÇAO RESORT &amp; SPA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$3,653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$3,913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$3,490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$3,767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$3,490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−41%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CURAZAO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MANGROVE BEACH CORENDON CURAÇAO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$3,042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$3,029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$3,029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−32%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CURAZAO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DREAMS CURACAO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$3,095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$3,248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$3,095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−33%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02920" y="44348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REF = referencia del benchmark (Isleño $2,074, mejor tarifa OTA)  |  ▼ competidor más económico  |  Última columna, base precio del competidor: Isleño +X% = el Isleño está X% más caro que ese hotel; Isleño −X% = está X% más barato. MEJOR considera solo canales OTA.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9525">
            <a:solidFill>
              <a:srgbClr val="D6DFE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0292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internacional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10561320" y="6428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41732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057400" y="310896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COMPETENCIA</a:t>
            </a:r>
            <a:pPr indent="0" marL="0">
              <a:buNone/>
            </a:pPr>
            <a:r>
              <a:rPr lang="en-US" sz="9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periodo 10 – 15 Octubre 2026  ·  V.3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2057400" y="53035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Tarifas aéreas desde Santiago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2057400" y="90525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SCL · 10 – 15 Octubre 2026 · por persona, ida y vuelta, USD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1152144"/>
            <a:ext cx="11155680" cy="0"/>
          </a:xfrm>
          <a:prstGeom prst="line">
            <a:avLst/>
          </a:prstGeom>
          <a:noFill/>
          <a:ln w="20320">
            <a:solidFill>
              <a:srgbClr val="003A6F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556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463040"/>
                <a:gridCol w="1463040"/>
                <a:gridCol w="1463040"/>
                <a:gridCol w="1463040"/>
                <a:gridCol w="1508760"/>
                <a:gridCol w="150876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RUTA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AVIANCA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JETSMART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ARAJET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 → ADZ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57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F3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 → CTG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57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F3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 → TBP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57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F3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 → PUJ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F3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57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 → CUN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57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F3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 → SMR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F3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57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 → PTY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57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F3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02920" y="3950208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= más barato por ruta   |   Rojo = más caro   |   NA = aerolínea sin vuelo en la ruta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9525">
            <a:solidFill>
              <a:srgbClr val="D6DFE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0292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Tarifas aéreas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10561320" y="6428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41732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057400" y="310896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COMPETENCIA</a:t>
            </a:r>
            <a:pPr indent="0" marL="0">
              <a:buNone/>
            </a:pPr>
            <a:r>
              <a:rPr lang="en-US" sz="9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periodo 10 – 15 Octubre 2026  ·  V.3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2057400" y="53035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operador por hotel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2057400" y="90525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 · dónde está más barato cada hotel propio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1152144"/>
            <a:ext cx="11155680" cy="0"/>
          </a:xfrm>
          <a:prstGeom prst="line">
            <a:avLst/>
          </a:prstGeom>
          <a:noFill/>
          <a:ln w="20320">
            <a:solidFill>
              <a:srgbClr val="003A6F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5568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627632"/>
                <a:gridCol w="1627632"/>
                <a:gridCol w="1627632"/>
                <a:gridCol w="1627632"/>
                <a:gridCol w="1627632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 OP.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2DO MEJOR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ISLEÑO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DESPEGAR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SAN LUIS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DESPEGAR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MARAZUL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DESPEGAR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MARYLAND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DESPEGAR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LOS DELFINES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DESPEGAR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BARÚ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DESPEGAR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DECAMERON PANAMÁ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 FALABELLA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GALEÓN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único canal con tarifa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DECAMERON COMPLEX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DESPEGAR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DECAMERON LOS CABOS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02920" y="458114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Panamá corregido a $963 (Cocha, recotizado por hotel y fecha). El Galeón queda con Cocha como único canal con tarifa.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9525">
            <a:solidFill>
              <a:srgbClr val="D6DFE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0292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Resúmenes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10561320" y="6428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41732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057400" y="310896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COMPETENCIA</a:t>
            </a:r>
            <a:pPr indent="0" marL="0">
              <a:buNone/>
            </a:pPr>
            <a:r>
              <a:rPr lang="en-US" sz="9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periodo 10 – 15 Octubre 2026  ·  V.3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2057400" y="53035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Isleño vs competencia internacional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2057400" y="90525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tarifa OTA del Isleño: $1,467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1152144"/>
            <a:ext cx="11155680" cy="0"/>
          </a:xfrm>
          <a:prstGeom prst="line">
            <a:avLst/>
          </a:prstGeom>
          <a:noFill/>
          <a:ln w="20320">
            <a:solidFill>
              <a:srgbClr val="003A6F"/>
            </a:solidFill>
            <a:prstDash val="solid"/>
          </a:ln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5568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034540"/>
                <a:gridCol w="2034540"/>
                <a:gridCol w="2034540"/>
                <a:gridCol w="203454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COMPETIDOR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 OTA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ISLEÑO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SUNSET MARINA RESORT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CANCÚN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−$608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+71%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SIRENIS PUNTA CANA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PUNTA CANA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−$576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+65%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SERENADE CARIBE CLUB FAMILY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PUNTA CANA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−$465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+46%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RIU DUNAMAR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CANCÚN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−$463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+46%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FLAMINGO CANCUN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CANCÚN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−$463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+46%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02920" y="316382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 con base en el precio del competidor: Isleño +X% = el Isleño está X% más caro que ese hotel.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9525">
            <a:solidFill>
              <a:srgbClr val="D6DFE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0292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Resúmenes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10561320" y="6428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41732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057400" y="310896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COMPETENCIA</a:t>
            </a:r>
            <a:pPr indent="0" marL="0">
              <a:buNone/>
            </a:pPr>
            <a:r>
              <a:rPr lang="en-US" sz="9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periodo 10 – 15 Octubre 2026  ·  V.3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2057400" y="53035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aerolínea por ruta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2057400" y="90525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persona, ida y vuelta, USD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1152144"/>
            <a:ext cx="11155680" cy="0"/>
          </a:xfrm>
          <a:prstGeom prst="line">
            <a:avLst/>
          </a:prstGeom>
          <a:noFill/>
          <a:ln w="20320">
            <a:solidFill>
              <a:srgbClr val="003A6F"/>
            </a:solidFill>
            <a:prstDash val="solid"/>
          </a:ln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5568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627632"/>
                <a:gridCol w="1627632"/>
                <a:gridCol w="1627632"/>
                <a:gridCol w="1627632"/>
                <a:gridCol w="1627632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RUTA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2DA OPC.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SCL-ADZ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AVIANCA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SCL-CTG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JETSMART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SCL-TBP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SCL-PUJ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ARAJET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SCL-CUN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SCL-SMR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JETSMART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SCL-PTY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AVIANCA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9525">
            <a:solidFill>
              <a:srgbClr val="D6DFE7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0292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Resúmenes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10561320" y="6428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6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1554480" cy="6035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13716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emitir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2920" y="2167128"/>
            <a:ext cx="256032" cy="256032"/>
          </a:xfrm>
          <a:prstGeom prst="ellipse">
            <a:avLst/>
          </a:prstGeom>
          <a:solidFill>
            <a:srgbClr val="E08A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2920" y="21671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4884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5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Cocha: ningún hotel Decameron aparece en la búsqueda por destino. Todos hubo que encontrarlos por nombre, incluidos los que sí tienen cupo y tarifa.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02920" y="2825496"/>
            <a:ext cx="256032" cy="256032"/>
          </a:xfrm>
          <a:prstGeom prst="ellipse">
            <a:avLst/>
          </a:prstGeom>
          <a:solidFill>
            <a:srgbClr val="E08A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2920" y="2825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807208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5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Panamá: el $956 que la tabla de verificación atribuye al canal directo no tiene respaldo. Recotizar.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02920" y="3483864"/>
            <a:ext cx="256032" cy="256032"/>
          </a:xfrm>
          <a:prstGeom prst="ellipse">
            <a:avLst/>
          </a:prstGeom>
          <a:solidFill>
            <a:srgbClr val="E08A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2920" y="34838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3465576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5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Cartagena: reconfirmar categoría y régimen de Dubai y La Gran Vía; son hoteles urbanos de 3–4 estrellas.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02920" y="4142232"/>
            <a:ext cx="256032" cy="256032"/>
          </a:xfrm>
          <a:prstGeom prst="ellipse">
            <a:avLst/>
          </a:prstGeom>
          <a:solidFill>
            <a:srgbClr val="E08A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2920" y="4142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4123944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5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Barú: definir con qué destino queda. Hoy aparece solo en el benchmark, no en la tabla de Cartagena.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02920" y="4800600"/>
            <a:ext cx="256032" cy="256032"/>
          </a:xfrm>
          <a:prstGeom prst="ellipse">
            <a:avLst/>
          </a:prstGeom>
          <a:solidFill>
            <a:srgbClr val="E08A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" y="4800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78231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5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Vigencia: las tarifas se cotizaron el 27/08 y se mueven día a día. Barú se movió $214 en cuatro días.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502920" y="617220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entre V. Falabella, Despegar, Cocha y Expedia  ·  Datos del informe V.3  ·  Verificación 31/08/2026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Reporte de Competencia 10-15 Octubre 2026</dc:title>
  <dc:subject>PptxGenJS Presentation</dc:subject>
  <dc:creator>Hoteles Decameron Chile</dc:creator>
  <cp:lastModifiedBy>Hoteles Decameron Chile</cp:lastModifiedBy>
  <cp:revision>1</cp:revision>
  <dcterms:created xsi:type="dcterms:W3CDTF">2026-08-31T22:15:19Z</dcterms:created>
  <dcterms:modified xsi:type="dcterms:W3CDTF">2026-08-31T22:15:19Z</dcterms:modified>
</cp:coreProperties>
</file>